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20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  <Relationship Id="rId20" Type="http://schemas.openxmlformats.org/officeDocument/2006/relationships/slide" Target="slides/slide14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Combined Score</c:v>
                </c:pt>
              </c:strCache>
            </c:strRef>
          </c:tx>
          <c:spPr>
            <a:solidFill>
              <a:srgbClr val="5C6B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C6B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B13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Random</c:v>
                  </c:pt>
                  <c:pt idx="1">
                    <c:v>Fixed</c:v>
                  </c:pt>
                  <c:pt idx="2">
                    <c:v>Greedy</c:v>
                  </c:pt>
                  <c:pt idx="3">
                    <c:v>PPO (ours)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-4.979</c:v>
                </c:pt>
                <c:pt idx="1">
                  <c:v>-1.582</c:v>
                </c:pt>
                <c:pt idx="2">
                  <c:v>-1.251</c:v>
                </c:pt>
                <c:pt idx="3">
                  <c:v>-0.613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4-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45720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COURSE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601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Multi-Objective PPO-Based Receiver Energy- and SIC-Complexity-Aware NOMA Scheduling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schedule NOMA users with an RL agent that balances speed, battery life, and receiver complexity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8961120" cy="0"/>
          </a:xfrm>
          <a:prstGeom prst="line">
            <a:avLst/>
          </a:prstGeom>
          <a:noFill/>
          <a:ln w="12700">
            <a:solidFill>
              <a:srgbClr val="3B51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166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Ranga Charvik Battagiri</a:t>
            </a:r>
            <a:pPr indent="0" marL="0">
              <a:buNone/>
            </a:pPr>
            <a:r>
              <a:rPr lang="en-US" sz="15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Student ID: 2520040108   |   Batch 2025-2029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504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Dhanush</a:t>
            </a:r>
            <a:pPr indent="0" marL="0">
              <a:buNone/>
            </a:pPr>
            <a:r>
              <a:rPr lang="en-US" sz="15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Student ID: 2520040109   |   Batch 2025-2029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584301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Gnaneshwar</a:t>
            </a:r>
            <a:pPr indent="0" marL="0">
              <a:buNone/>
            </a:pPr>
            <a:r>
              <a:rPr lang="en-US" sz="15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Student ID: 2520040076   |   Batch 2025-2029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29107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  •  KL Deemed to be University (KLH), Hyderabad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are getting crowded — and existing solutions ignore device battery limits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46120" cy="42062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DB2C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60220" y="20574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_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4190" y="22713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089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5G/6G Density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2697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numbers of connected IoT devices, wearables, and sensors now share the same limited spectrum.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114800" y="1691640"/>
            <a:ext cx="3246120" cy="42062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DB2C4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26380" y="20574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350" y="22713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31089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NOMA's Trade-off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389120" y="3657600"/>
            <a:ext cx="2697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 packs more users per channel using power-domain sharing — but receivers must "unmix" combined signals via SIC.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680960" y="1691640"/>
            <a:ext cx="3246120" cy="42062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DB2C4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892540" y="20574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_batte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510" y="227137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09560" y="31089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Missing Piece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7955280" y="3657600"/>
            <a:ext cx="2697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users per cluster means more SIC decoding stages — draining battery on devices that existing schedulers ignore.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NOMA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users share the same time-frequency slot, separated by power level instead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1005840" cy="10058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5" name="Image 0" descr="icon_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918" y="245607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246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34640" y="23317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2377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Superimposed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(power-multiplexed)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920240" y="2697480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212080" y="2697480"/>
            <a:ext cx="1554480" cy="-132588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20840" y="117043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0" y="1078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 — weak channel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0" y="13990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power share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12080" y="2697480"/>
            <a:ext cx="15544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20840" y="249631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24048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 — medium channel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15200" y="27249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power share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212080" y="2697480"/>
            <a:ext cx="1554480" cy="1325880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20840" y="3822192"/>
            <a:ext cx="402336" cy="40233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0" y="37307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 — strong channel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15200" y="40507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power share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5074920"/>
            <a:ext cx="9966960" cy="1234440"/>
          </a:xfrm>
          <a:prstGeom prst="roundRect">
            <a:avLst>
              <a:gd name="adj" fmla="val 7407"/>
            </a:avLst>
          </a:prstGeom>
          <a:solidFill>
            <a:srgbClr val="21295C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212080"/>
            <a:ext cx="9326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weak-channel users get more transmit power so their signal survives the interference; strong-channel users get less, since they can still be decoded through 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SIC: The Hidden Cost of NOMA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receiver must peel apart the combined signal — and that costs time, compute, and battery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strongest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07792" y="2651760"/>
            <a:ext cx="201168" cy="0"/>
          </a:xfrm>
          <a:prstGeom prst="line">
            <a:avLst/>
          </a:prstGeom>
          <a:noFill/>
          <a:ln w="2540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36392" y="196596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273552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73552" y="251460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it from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mix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95544" y="2651760"/>
            <a:ext cx="201168" cy="0"/>
          </a:xfrm>
          <a:prstGeom prst="line">
            <a:avLst/>
          </a:prstGeom>
          <a:noFill/>
          <a:ln w="2540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724144" y="196596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861304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61304" y="251460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next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3296" y="2651760"/>
            <a:ext cx="201168" cy="0"/>
          </a:xfrm>
          <a:prstGeom prst="line">
            <a:avLst/>
          </a:prstGeom>
          <a:noFill/>
          <a:ln w="2540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11896" y="196596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449056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49056" y="251460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your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is isolated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users in a cluster  →  more SIC stages  →  more decoding delay + energy drain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01498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709160"/>
            <a:ext cx="914400" cy="9144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2" name="Image 0" descr="icon_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4946904"/>
            <a:ext cx="438912" cy="43891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201168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Tension This Project Addresses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011680" y="50749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NOMA clusters improve spectral efficiency, but increase SIC stages — draining battery on devices that can least afford it (IoT sensors, wearables). Most existing schedulers optimize only throughput and ignore this cost entirely.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NOMA scheduling literature focuses on — and what it leaves 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937760" cy="4480560"/>
          </a:xfrm>
          <a:prstGeom prst="roundRect">
            <a:avLst>
              <a:gd name="adj" fmla="val 2041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Been Studied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for power allocation after channel-gain clustering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Migration Automata for the user-grouping sub-problem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88620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RL-based user pairing + power allocation in MIMO-NOMA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Power-consumption models that account for SIC energy overhead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0" y="1600200"/>
            <a:ext cx="5669280" cy="4480560"/>
          </a:xfrm>
          <a:prstGeom prst="roundRect">
            <a:avLst>
              <a:gd name="adj" fmla="val 2041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Missing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80760" y="237744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approaches optimize a single objective — usually just throughput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80760" y="333756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 energy cost is treated as a fixed system parameter, not something to optimize against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80760" y="429768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scheduler adapts clustering decisions based on individual users' remaining battery level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80760" y="539496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project's contribution: a scheduler that is explicitly rewarded for battery- and SIC-aware decisions.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0149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DB2C4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463040"/>
            <a:ext cx="9006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simplified NOMA downlink system in Python — throughput, SIC stages, and receiver energy cost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10149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DB2C4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5328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32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395728"/>
            <a:ext cx="9006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scheduling as a Markov Decision Process (state, action, reward)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328416"/>
            <a:ext cx="10149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DB2C4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46557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65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328416"/>
            <a:ext cx="9006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PPO agent with a multi-objective reward balancing throughput, energy, and SIC complexity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261104"/>
            <a:ext cx="10149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DB2C4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39826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98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261104"/>
            <a:ext cx="9006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random, fixed, and greedy baseline schedulers for comparison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5193792"/>
            <a:ext cx="10149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DB2C4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33095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330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193792"/>
            <a:ext cx="9006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PPO vs. baselines across throughput, energy, SIC stages, and fairness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Formulating It as an RL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is a repeated decision problem — a natural fit for reinforcement learning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68880" cy="2331720"/>
          </a:xfrm>
          <a:prstGeom prst="roundRect">
            <a:avLst>
              <a:gd name="adj" fmla="val 3922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19659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7515" y="21561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gain + remaining battery level of every user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691640"/>
            <a:ext cx="2468880" cy="2331720"/>
          </a:xfrm>
          <a:prstGeom prst="roundRect">
            <a:avLst>
              <a:gd name="adj" fmla="val 3922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4114800" y="19659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995" y="215615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2900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NOMA cluster each user is assigned to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43600" y="1691640"/>
            <a:ext cx="2468880" cy="2331720"/>
          </a:xfrm>
          <a:prstGeom prst="roundRect">
            <a:avLst>
              <a:gd name="adj" fmla="val 3922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6812280" y="19659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_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475" y="215615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076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12648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combination of throughput, energy cost, and SIC stages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641080" y="1691640"/>
            <a:ext cx="2468880" cy="2331720"/>
          </a:xfrm>
          <a:prstGeom prst="roundRect">
            <a:avLst>
              <a:gd name="adj" fmla="val 3922"/>
            </a:avLst>
          </a:prstGeom>
          <a:solidFill>
            <a:srgbClr val="F4F7F9"/>
          </a:solidFill>
          <a:ln/>
        </p:spPr>
      </p:sp>
      <p:sp>
        <p:nvSpPr>
          <p:cNvPr id="20" name="Shape 15"/>
          <p:cNvSpPr/>
          <p:nvPr/>
        </p:nvSpPr>
        <p:spPr>
          <a:xfrm>
            <a:off x="9509760" y="19659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_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9955" y="215615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7824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82396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PPO agent's learned scheduling strategy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343400"/>
            <a:ext cx="10149840" cy="1691640"/>
          </a:xfrm>
          <a:prstGeom prst="roundRect">
            <a:avLst>
              <a:gd name="adj" fmla="val 5405"/>
            </a:avLst>
          </a:prstGeom>
          <a:solidFill>
            <a:srgbClr val="21295C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452628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Multi-Objective Reward Function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68680" y="489204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 =  w₁ · Throughput  −  w₂ · Energy Cost  −  w₃ · SIC Stages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868680" y="544068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weights: w₁ = 1.0 (throughput)   w₂ = 2.5 (energy)   w₃ = 1.0 (SIC complexity)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Model in Detail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formulas that drive every scheduling decision in the simulation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149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DB2C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88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2027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 (Shannon capacity)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874520" y="22219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Rᵢ = B · log₂(1 + SINRᵢ)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74520" y="26517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SINR (signal vs. interference+noise) means a higher achievable rate for user i.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10149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DB2C4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5433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30" y="375727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SIC stages per user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874520" y="377647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SICᵢ = cluster_size − 1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874520" y="420624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user sharing a cluster adds one more decoding stage the receiver must perform.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800600"/>
            <a:ext cx="10149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DB2C4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50977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icon_batte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531175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Battery-weighted energy cost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874520" y="533095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Eᵢ = (E_base + SICᵢ·E_stage) × (1 + 3·urgencyᵢ)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874520" y="5760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urgencyᵢ = 1 − batteryᵢ — a near-empty battery multiplies the penalty up to 4×.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simulation to a validated, comparable result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385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41732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7515" y="243047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108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Environment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Gymnasium NOMA simulation: throughput, SIC, battery-weighted energy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44952" y="3108960"/>
            <a:ext cx="173736" cy="0"/>
          </a:xfrm>
          <a:prstGeom prst="line">
            <a:avLst/>
          </a:prstGeom>
          <a:noFill/>
          <a:ln w="2540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246120" y="182880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F4F7F9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9385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11480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icon_seed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995" y="2430475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3108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Multi-Seed Training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429000" y="3611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3 independent PPO agents; keep the best by evaluation score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742432" y="3108960"/>
            <a:ext cx="173736" cy="0"/>
          </a:xfrm>
          <a:prstGeom prst="line">
            <a:avLst/>
          </a:prstGeom>
          <a:noFill/>
          <a:ln w="2540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5943600" y="182880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F4F7F9"/>
          </a:solidFill>
          <a:ln/>
        </p:spPr>
      </p:sp>
      <p:sp>
        <p:nvSpPr>
          <p:cNvPr id="19" name="Text 15"/>
          <p:cNvSpPr/>
          <p:nvPr/>
        </p:nvSpPr>
        <p:spPr>
          <a:xfrm>
            <a:off x="6080760" y="19385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81228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icon_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475" y="2430475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80760" y="3108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Comparison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126480" y="3611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Random, Fixed, and Greedy schedulers on the same environment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439912" y="3108960"/>
            <a:ext cx="173736" cy="0"/>
          </a:xfrm>
          <a:prstGeom prst="line">
            <a:avLst/>
          </a:prstGeom>
          <a:noFill/>
          <a:ln w="2540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8641080" y="182880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F4F7F9"/>
          </a:solidFill>
          <a:ln/>
        </p:spPr>
      </p:sp>
      <p:sp>
        <p:nvSpPr>
          <p:cNvPr id="26" name="Text 21"/>
          <p:cNvSpPr/>
          <p:nvPr/>
        </p:nvSpPr>
        <p:spPr>
          <a:xfrm>
            <a:off x="8778240" y="19385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950976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9955" y="2430475"/>
            <a:ext cx="351130" cy="35113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778240" y="3108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&amp; Compare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8823960" y="3611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30-episode averages across throughput, energy, SIC stages, fairness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4800600"/>
            <a:ext cx="10149840" cy="1234440"/>
          </a:xfrm>
          <a:prstGeom prst="roundRect">
            <a:avLst>
              <a:gd name="adj" fmla="val 7407"/>
            </a:avLst>
          </a:prstGeom>
          <a:solidFill>
            <a:srgbClr val="21295C"/>
          </a:solidFill>
          <a:ln/>
        </p:spPr>
      </p:sp>
      <p:sp>
        <p:nvSpPr>
          <p:cNvPr id="32" name="Text 26"/>
          <p:cNvSpPr/>
          <p:nvPr/>
        </p:nvSpPr>
        <p:spPr>
          <a:xfrm>
            <a:off x="868680" y="4937760"/>
            <a:ext cx="9326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multi-seed training?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can land in different quality outcomes depending on random initialization. Training several seeds and keeping only the best is standard practice for a trustworthy result, not a lucky one-off run.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Python, using standard, well-tested RL tooling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B2C4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35608" y="1947672"/>
            <a:ext cx="694944" cy="69494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6293" y="2128357"/>
            <a:ext cx="333573" cy="3335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Gymnasium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3154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NOMA environment: reset(), step(), reward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69164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B2C4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33088" y="1947672"/>
            <a:ext cx="694944" cy="69494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773" y="2128357"/>
            <a:ext cx="333573" cy="3335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Stable-Baselines3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383280" y="3154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algorithm implementation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43600" y="169164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B2C4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30568" y="1947672"/>
            <a:ext cx="694944" cy="69494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253" y="2128357"/>
            <a:ext cx="333573" cy="3335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076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080760" y="3154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SINR / throughput / energy formulas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641080" y="169164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B2C4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28048" y="1947672"/>
            <a:ext cx="694944" cy="69494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_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8733" y="2128357"/>
            <a:ext cx="333573" cy="3335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7824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778240" y="3154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charts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Setup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48640" y="4572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users, 3 NOMA clusters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48640" y="49560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seeds × 200,000 timesteps, best model kept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48640" y="53400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 policy network, decaying learning rate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76072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Schedulers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5760720" y="4572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— no information used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760720" y="49560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— equal-sized clusters, static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760720" y="53400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— channel-gain based, still battery-blind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PPO vs. Baselines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multi-objective score (throughput − 2.5×energy − 1.0×SIC stages), averaged over 30 episodes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46304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/>
        </p:spPr>
      </p:sp>
      <p:sp>
        <p:nvSpPr>
          <p:cNvPr id="6" name="Text 3"/>
          <p:cNvSpPr/>
          <p:nvPr/>
        </p:nvSpPr>
        <p:spPr>
          <a:xfrm>
            <a:off x="7635240" y="157276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−0.613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63524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combined score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635240" y="24231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trade-off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406640" y="288036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299008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+51%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635240" y="3611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Greedy baseline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635240" y="3840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combined score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406640" y="429768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/>
        </p:spPr>
      </p:sp>
      <p:sp>
        <p:nvSpPr>
          <p:cNvPr id="14" name="Text 11"/>
          <p:cNvSpPr/>
          <p:nvPr/>
        </p:nvSpPr>
        <p:spPr>
          <a:xfrm>
            <a:off x="7635240" y="440740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635240" y="5029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fn. explained variance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635240" y="5257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~0 before tuning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PPO Scheduler Wins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014984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08760"/>
            <a:ext cx="914400" cy="91440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5" name="Image 0" descr="icon_batt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7465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463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 is the only scheduler that sees battery level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65960" y="182880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baselines observe remaining energy at all, so they cannot protect low-battery users from being placed in large, SIC-heavy clusters — PPO can, because it's directly rewarded for it.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trade-off, not a clean sweep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338328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Greedy/Fixed achieve lower SIC stage counts and higher fairness — they build perfectly even clusters by construction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4206240"/>
            <a:ext cx="320040" cy="3200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51560" y="41605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achieves the highest throughput and the best combined score, but with less even cluster sizes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498348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4983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1560" y="4937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method should dominate every axis in a genuine multi-objective problem — what matters is the weighted trade-off PPO was trained on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PPO-based scheduler that jointly optimizes throughput, receiver energy, and SIC complexity achieves a better overall trade-off than fixed heuristic rules — by being the only approach that adapts to individual users' battery levels.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Directions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Multi-cell interference and imperfect channel state information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imperfect SIC / error propagation effects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explicit fairness term to the reward function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2971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Pareto-front multi-objective RL, beyond weighted-sum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3474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to more users and clusters for realism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5806440"/>
            <a:ext cx="10149840" cy="0"/>
          </a:xfrm>
          <a:prstGeom prst="line">
            <a:avLst/>
          </a:prstGeom>
          <a:noFill/>
          <a:ln w="12700">
            <a:solidFill>
              <a:srgbClr val="3B51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Ranga Charvik Battagiri  •  A. Dhanush  •  R. Gnaneshwar  •  Machine Learning (25SC2107E)  •  KLH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rtlCol="0" anchor="ctr"/>
          <a:lstStyle/>
          <a:p>
            <a:pPr indent="0" marL="0">
              <a:buNone/>
            </a:pPr>
            <a:r>
              <a:rPr lang="en-US" sz="2800" b="1" i="0" dirty="0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Detailed Metric Comparison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rtlCol="0" anchor="ctr"/>
          <a:lstStyle/>
          <a:p>
            <a:pPr indent="0" marL="0">
              <a:buNone/>
            </a:pPr>
            <a:r>
              <a:rPr lang="en-US" sz="1300" b="0" i="1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Five evaluation metrics for Random, Fixed, Greedy and PPO — green bars are our PPO scheduler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463040"/>
            <a:ext cx="7589520" cy="41764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5" name="Results Charts" descr="Bar charts comparing Random, Fixed, Greedy and PPO on throughput, energy cost, SIC stages, Jain fairness index and combined sco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7315200" cy="3871554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8412480" y="1463040"/>
            <a:ext cx="3227832" cy="1270226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8641080" y="1600200"/>
            <a:ext cx="2770632" cy="365760"/>
          </a:xfrm>
          <a:prstGeom prst="rect">
            <a:avLst/>
          </a:prstGeom>
          <a:noFill/>
        </p:spPr>
        <p:txBody>
          <a:bodyPr wrap="square" lIns="0" rIns="0" tIns="0" bIns="0" rtlCol="0" anchor="ctr"/>
          <a:lstStyle/>
          <a:p>
            <a:pPr indent="0" marL="0">
              <a:buNone/>
            </a:pPr>
            <a:r>
              <a:rPr lang="en-US" sz="1500" b="1" i="0" dirty="0">
                <a:solidFill>
                  <a:srgbClr val="F2B233"/>
                </a:solidFill>
                <a:latin typeface="Cambria"/>
                <a:ea typeface="Cambria"/>
                <a:cs typeface="Cambria"/>
              </a:rPr>
              <a:t>Highest throughput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641080" y="2011680"/>
            <a:ext cx="2770632" cy="584426"/>
          </a:xfrm>
          <a:prstGeom prst="rect">
            <a:avLst/>
          </a:prstGeom>
          <a:noFill/>
        </p:spPr>
        <p:txBody>
          <a:bodyPr wrap="square" lIns="0" rIns="0" tIns="0" bIns="0" rtlCol="0" anchor="t"/>
          <a:lstStyle/>
          <a:p>
            <a:pPr indent="0" marL="0">
              <a:buNone/>
            </a:pPr>
            <a:r>
              <a:rPr lang="en-US" sz="1200" b="0" i="0" dirty="0">
                <a:solidFill>
                  <a:srgbClr val="D5DCE6"/>
                </a:solidFill>
                <a:latin typeface="Calibri"/>
                <a:ea typeface="Calibri"/>
                <a:cs typeface="Calibri"/>
              </a:rPr>
              <a:t>PPO clearly leads on average throughput, ahead of Random, Fixed and Greedy.</a:t>
            </a:r>
          </a:p>
        </p:txBody>
      </p:sp>
      <p:sp>
        <p:nvSpPr>
          <p:cNvPr id="9" name="Shape 9"/>
          <p:cNvSpPr/>
          <p:nvPr/>
        </p:nvSpPr>
        <p:spPr>
          <a:xfrm>
            <a:off x="8412480" y="2916146"/>
            <a:ext cx="3227832" cy="127022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8641080" y="3053306"/>
            <a:ext cx="2770632" cy="365760"/>
          </a:xfrm>
          <a:prstGeom prst="rect">
            <a:avLst/>
          </a:prstGeom>
          <a:noFill/>
        </p:spPr>
        <p:txBody>
          <a:bodyPr wrap="square" lIns="0" rIns="0" tIns="0" bIns="0" rtlCol="0" anchor="ctr"/>
          <a:lstStyle/>
          <a:p>
            <a:pPr indent="0" marL="0">
              <a:buNone/>
            </a:pPr>
            <a:r>
              <a:rPr lang="en-US" sz="1500" b="1" i="0" dirty="0">
                <a:solidFill>
                  <a:srgbClr val="0E5A80"/>
                </a:solidFill>
                <a:latin typeface="Cambria"/>
                <a:ea typeface="Cambria"/>
                <a:cs typeface="Cambria"/>
              </a:rPr>
              <a:t>Best combined score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641080" y="3464786"/>
            <a:ext cx="2770632" cy="584426"/>
          </a:xfrm>
          <a:prstGeom prst="rect">
            <a:avLst/>
          </a:prstGeom>
          <a:noFill/>
        </p:spPr>
        <p:txBody>
          <a:bodyPr wrap="square" lIns="0" rIns="0" tIns="0" bIns="0" rtlCol="0" anchor="t"/>
          <a:lstStyle/>
          <a:p>
            <a:pPr indent="0" marL="0">
              <a:buNone/>
            </a:pPr>
            <a:r>
              <a:rPr lang="en-US" sz="1200" b="0" i="0" dirty="0">
                <a:solidFill>
                  <a:srgbClr val="3B4656"/>
                </a:solidFill>
                <a:latin typeface="Calibri"/>
                <a:ea typeface="Calibri"/>
                <a:cs typeface="Calibri"/>
              </a:rPr>
              <a:t>Highest multi-objective score of all four schedulers — the trade-off PPO was trained for.</a:t>
            </a:r>
          </a:p>
        </p:txBody>
      </p:sp>
      <p:sp>
        <p:nvSpPr>
          <p:cNvPr id="12" name="Shape 12"/>
          <p:cNvSpPr/>
          <p:nvPr/>
        </p:nvSpPr>
        <p:spPr>
          <a:xfrm>
            <a:off x="8412480" y="4369252"/>
            <a:ext cx="3227832" cy="127022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8641080" y="4506412"/>
            <a:ext cx="2770632" cy="365760"/>
          </a:xfrm>
          <a:prstGeom prst="rect">
            <a:avLst/>
          </a:prstGeom>
          <a:noFill/>
        </p:spPr>
        <p:txBody>
          <a:bodyPr wrap="square" lIns="0" rIns="0" tIns="0" bIns="0" rtlCol="0" anchor="ctr"/>
          <a:lstStyle/>
          <a:p>
            <a:pPr indent="0" marL="0">
              <a:buNone/>
            </a:pPr>
            <a:r>
              <a:rPr lang="en-US" sz="1500" b="1" i="0" dirty="0">
                <a:solidFill>
                  <a:srgbClr val="0E5A80"/>
                </a:solidFill>
                <a:latin typeface="Cambria"/>
                <a:ea typeface="Cambria"/>
                <a:cs typeface="Cambria"/>
              </a:rPr>
              <a:t>Honest trade-off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641080" y="4917892"/>
            <a:ext cx="2770632" cy="584426"/>
          </a:xfrm>
          <a:prstGeom prst="rect">
            <a:avLst/>
          </a:prstGeom>
          <a:noFill/>
        </p:spPr>
        <p:txBody>
          <a:bodyPr wrap="square" lIns="0" rIns="0" tIns="0" bIns="0" rtlCol="0" anchor="t"/>
          <a:lstStyle/>
          <a:p>
            <a:pPr indent="0" marL="0">
              <a:buNone/>
            </a:pPr>
            <a:r>
              <a:rPr lang="en-US" sz="1200" b="0" i="0" dirty="0">
                <a:solidFill>
                  <a:srgbClr val="3B4656"/>
                </a:solidFill>
                <a:latin typeface="Calibri"/>
                <a:ea typeface="Calibri"/>
                <a:cs typeface="Calibri"/>
              </a:rPr>
              <a:t>Fixed and Greedy keep energy, SIC stages and fairness lower — PPO trades some for throughput.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48640" y="5822359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rtlCol="0" anchor="ctr"/>
          <a:lstStyle/>
          <a:p>
            <a:pPr indent="0" marL="0">
              <a:buNone/>
            </a:pPr>
            <a:r>
              <a:rPr lang="en-US" sz="1100" b="0" i="1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Metrics: average throughput ↑  •  energy cost ↓  •  SIC stages ↓  •  Jain’s fairness index ↑  •  combined score 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2026-09-29T03:31:57Z</dcterms:created>
  <dcterms:modified xsi:type="dcterms:W3CDTF">2026-09-29T03:31:57Z</dcterms:modified>
</cp:coreProperties>
</file>