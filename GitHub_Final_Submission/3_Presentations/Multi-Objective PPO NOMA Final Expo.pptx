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</ns0:sldIdLst>
  <ns0:sldSz cx="12192000" cy="6858000" type="screen4x3"/>
  <ns0:notesSz cx="6858000" cy="9144000"/>
  <ns0:embeddedFontLst>
    <ns0:embeddedFont>
      <ns0:font typeface="Space Grotesk"/>
      <ns0:bold ns1:id="rIdFont22"/>
      <ns0:regular ns1:id="rIdFont23"/>
    </ns0:embeddedFont>
    <ns0:embeddedFont>
      <ns0:font typeface="Inter"/>
      <ns0:bold ns1:id="rIdFont24"/>
      <ns0:regular ns1:id="rIdFont25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Font22" Type="http://schemas.openxmlformats.org/officeDocument/2006/relationships/font" Target="fonts/61967bc7-0b97-4693-8781-51b24a49b87e.fntdata" /><ns0:Relationship Id="rIdFont23" Type="http://schemas.openxmlformats.org/officeDocument/2006/relationships/font" Target="fonts/16256284-3e99-4fdd-83fa-2e9946b1d884.fntdata" /><ns0:Relationship Id="rIdFont24" Type="http://schemas.openxmlformats.org/officeDocument/2006/relationships/font" Target="fonts/f63ba1f9-fca2-4dc5-9348-d923e63f3b15.fntdata" /><ns0:Relationship Id="rIdFont25" Type="http://schemas.openxmlformats.org/officeDocument/2006/relationships/font" Target="fonts/5ccc7889-3c68-47ad-a7fa-50c9601b3657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09600" y="4868912"/>
            <a:ext cx="6096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179314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EA5E9"/>
                </a:solidFill>
                <a:latin typeface="Inter"/>
              </a:rPr>
              <a:t>MACHINE LEARNING COURSE PROJECT FINAL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531739"/>
            <a:ext cx="10101262" cy="20114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b="1" sz="4800" i="0" u="none">
                <a:solidFill>
                  <a:srgbClr val="F8FAFC"/>
                </a:solidFill>
                <a:latin typeface="Space Grotesk"/>
              </a:rPr>
              <a:t>Multi-Objective PPO-Based Receiver Energy &amp; SIC-Aware NOMA Scheduling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771751"/>
            <a:ext cx="77152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CBD5E1"/>
                </a:solidFill>
                <a:latin typeface="Inter"/>
              </a:rPr>
              <a:t>Learning to schedule NOMA users with an RL agent that balances speed, battery life, and receiver complexity.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5488037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Department of ECE • KL Deemed to be University (KLH)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5135612"/>
            <a:ext cx="4167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Inter"/>
              </a:rPr>
              <a:t>Ranga Charvik Battagiri | ID: 2520040108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48150" y="5135612"/>
            <a:ext cx="29765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Inter"/>
              </a:rPr>
              <a:t>A. Dhanush | ID: 2520040109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34200" y="5135612"/>
            <a:ext cx="33932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Inter"/>
              </a:rPr>
              <a:t>R. Gnaneshwar | ID: 2520040076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98690" y="1128712"/>
            <a:ext cx="6583560" cy="1381125"/>
          </a:xfrm>
          <a:prstGeom prst="roundRect">
            <a:avLst>
              <a:gd name="adj" fmla="val 827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998690" y="2738437"/>
            <a:ext cx="6583560" cy="1381125"/>
          </a:xfrm>
          <a:prstGeom prst="roundRect">
            <a:avLst>
              <a:gd name="adj" fmla="val 827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998690" y="4348162"/>
            <a:ext cx="6583560" cy="1381125"/>
          </a:xfrm>
          <a:prstGeom prst="roundRect">
            <a:avLst>
              <a:gd name="adj" fmla="val 827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98690" y="1128712"/>
            <a:ext cx="38100" cy="138112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998690" y="2738437"/>
            <a:ext cx="38100" cy="138112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98690" y="4348162"/>
            <a:ext cx="38100" cy="13811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1590" y="1666875"/>
            <a:ext cx="396478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1590" y="3276600"/>
            <a:ext cx="383678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1590" y="4886325"/>
            <a:ext cx="363735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2507009"/>
            <a:ext cx="4228497" cy="100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Why This Project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665190"/>
            <a:ext cx="40271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Networks are crowding rapidly, yet existing scheduling solutions critically ignore device battery limits.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6668" y="1433512"/>
            <a:ext cx="6225331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5G/6G Device Density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6668" y="1804987"/>
            <a:ext cx="540603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Massive volumes of connected IoT devices sharing limited radio spectrum.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53869" y="3043237"/>
            <a:ext cx="623813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NOMA's Efficiency Trade-off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53869" y="3414712"/>
            <a:ext cx="541883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Packs more users per channel, demanding complex receiver signal unmixing.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3926" y="4652962"/>
            <a:ext cx="6258073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The Missing Scheduler Piece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33926" y="5024437"/>
            <a:ext cx="54387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Heavy signal decoding severely drains neglected batteries on low-power devices.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09825"/>
            <a:ext cx="3505200" cy="2286000"/>
          </a:xfrm>
          <a:prstGeom prst="roundRect">
            <a:avLst>
              <a:gd name="adj" fmla="val 5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171825"/>
            <a:ext cx="3505200" cy="1524000"/>
          </a:xfrm>
          <a:prstGeom prst="roundRect">
            <a:avLst>
              <a:gd name="adj" fmla="val 75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933825"/>
            <a:ext cx="3505200" cy="762000"/>
          </a:xfrm>
          <a:prstGeom prst="roundRect">
            <a:avLst>
              <a:gd name="adj" fmla="val 15000"/>
            </a:avLst>
          </a:prstGeom>
          <a:solidFill>
            <a:srgbClr val="BA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How NOMA Power Allocation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171575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Multiple users share the same time-frequency slot, separated by assigned power levels.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50" y="2638425"/>
            <a:ext cx="3924300" cy="1828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b="1" sz="1800" i="0" u="none">
                <a:latin typeface="Inter"/>
              </a:rPr>
              <a:t>HIGH POWER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0739" y="4924425"/>
            <a:ext cx="336292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Space Grotesk"/>
              </a:rPr>
              <a:t>User A — Weak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1450" y="5295900"/>
            <a:ext cx="4381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Given high power share so signal survives direct interference.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3850" y="3400425"/>
            <a:ext cx="3924300" cy="1066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b="1" sz="1500" i="0" u="none">
                <a:latin typeface="Inter"/>
              </a:rPr>
              <a:t>MID POWER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33267" y="4924425"/>
            <a:ext cx="372546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Space Grotesk"/>
              </a:rPr>
              <a:t>User B — Medium Channel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05250" y="5295900"/>
            <a:ext cx="4381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Allocated intermediate power requiring partial isolation.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1450" y="4086225"/>
            <a:ext cx="407670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b="1" sz="1200" i="0" u="none">
                <a:solidFill>
                  <a:srgbClr val="0C4A6E"/>
                </a:solidFill>
                <a:latin typeface="Inter"/>
              </a:rPr>
              <a:t>LOW POWER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2076" y="4924425"/>
            <a:ext cx="3575446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Space Grotesk"/>
              </a:rPr>
              <a:t>User C — Strong Channel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9050" y="5295900"/>
            <a:ext cx="4381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Decodes own signal smoothly through adjacent interference.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410075"/>
            <a:ext cx="10972800" cy="95250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410075"/>
            <a:ext cx="57150" cy="9525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SIC: The Hidden Cost of NOMA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47775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Every receiver must peel apart the combined signal sequentially.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4638675"/>
            <a:ext cx="105537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64E3B"/>
                </a:solidFill>
                <a:latin typeface="Inter"/>
              </a:rPr>
              <a:t>Core Tension: Bigger clusters improve spectral efficiency, but increase SIC stages — draining battery on devices that can least afford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390775"/>
            <a:ext cx="109728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52550" y="208597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11550" y="208597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70551" y="2185987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229552" y="208597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9675" y="2085975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800" i="0" u="none">
                <a:solidFill>
                  <a:srgbClr val="FFFFFF"/>
                </a:solidFill>
                <a:latin typeface="Space Grotesk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212" y="2924175"/>
            <a:ext cx="22002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Space Grotesk"/>
              </a:rPr>
              <a:t>Decode Strongest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662" y="3248025"/>
            <a:ext cx="26193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Inter"/>
              </a:rPr>
              <a:t>Isolate highest power signal.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8675" y="2085975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800" i="0" u="none">
                <a:solidFill>
                  <a:srgbClr val="FFFFFF"/>
                </a:solidFill>
                <a:latin typeface="Space Grotesk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2482" y="2924175"/>
            <a:ext cx="188773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Space Grotesk"/>
              </a:rPr>
              <a:t>Subtract Signal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06663" y="3248025"/>
            <a:ext cx="26193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Inter"/>
              </a:rPr>
              <a:t>Remove from composite mix.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27676" y="2185987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800" i="0" u="none">
                <a:solidFill>
                  <a:srgbClr val="FFFFFF"/>
                </a:solidFill>
                <a:latin typeface="Space Grotesk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00254" y="3024187"/>
            <a:ext cx="155019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Space Grotesk"/>
              </a:rPr>
              <a:t>Decode Next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3523" y="3348037"/>
            <a:ext cx="25836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Inter"/>
              </a:rPr>
              <a:t>Process remaining wave.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86677" y="2085975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800" i="0" u="none">
                <a:solidFill>
                  <a:srgbClr val="FFFFFF"/>
                </a:solidFill>
                <a:latin typeface="Space Grotesk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90484" y="2924175"/>
            <a:ext cx="188773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Space Grotesk"/>
              </a:rPr>
              <a:t>Repeat Process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4664" y="3248025"/>
            <a:ext cx="26193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Inter"/>
              </a:rPr>
              <a:t>Loop until complete isolation.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933575"/>
            <a:ext cx="5324475" cy="4314825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38875" y="1933575"/>
            <a:ext cx="5343525" cy="4314825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1905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0125" y="2800350"/>
            <a:ext cx="4543425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38925" y="2809875"/>
            <a:ext cx="4543425" cy="19050"/>
          </a:xfrm>
          <a:prstGeom prst="rect">
            <a:avLst/>
          </a:prstGeom>
          <a:solidFill>
            <a:srgbClr val="BA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3057525"/>
            <a:ext cx="152400" cy="1809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3448050"/>
            <a:ext cx="152400" cy="1809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3838575"/>
            <a:ext cx="152400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925" y="3133725"/>
            <a:ext cx="17145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925" y="3724275"/>
            <a:ext cx="171450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925" y="4314825"/>
            <a:ext cx="171450" cy="247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609600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Bridging the Literature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1247775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Moving beyond single-objective, battery-blind throughput optimization.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2324100"/>
            <a:ext cx="4870608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Space Grotesk"/>
              </a:rPr>
              <a:t>What's Been Studied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38925" y="2333625"/>
            <a:ext cx="4870608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Space Grotesk"/>
              </a:rPr>
              <a:t>What's Missing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1125" y="3048000"/>
            <a:ext cx="5298281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Q-learning for power allocation post-clustering.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1125" y="3438525"/>
            <a:ext cx="5298281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Object Migration Automata for user grouping.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1125" y="3829050"/>
            <a:ext cx="5298281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Power models treating SIC as a fixed static cost.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9146" y="3057525"/>
            <a:ext cx="4298453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Optimization algorithms usually ignore SIC dynamics entirely.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03405" y="3648075"/>
            <a:ext cx="4274194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Zero adaptation to individual users' remaining battery.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3610" y="4238625"/>
            <a:ext cx="4293989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Lack of explicit rewards for battery-aware cluster decisions.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933575"/>
            <a:ext cx="10972800" cy="83820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924175"/>
            <a:ext cx="10972800" cy="657225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733800"/>
            <a:ext cx="10972800" cy="657225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543425"/>
            <a:ext cx="10972800" cy="657225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5353050"/>
            <a:ext cx="10972800" cy="83820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1933575"/>
            <a:ext cx="38100" cy="8382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2924175"/>
            <a:ext cx="38100" cy="65722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3733800"/>
            <a:ext cx="38100" cy="6572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4543425"/>
            <a:ext cx="38100" cy="65722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5353050"/>
            <a:ext cx="38100" cy="8382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609600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Project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1247775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The systematic approach to solving the NOMA scheduling challenge.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500" y="2214562"/>
            <a:ext cx="582662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78012" y="2124075"/>
            <a:ext cx="989483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Inter"/>
              </a:rPr>
              <a:t>Model a simplified NOMA downlink system in Python incorporating throughput and exact receiver energy cost.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500" y="3114675"/>
            <a:ext cx="5905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5900" y="3138487"/>
            <a:ext cx="107061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Inter"/>
              </a:rPr>
              <a:t>Formulate the dynamic scheduling process as a discrete-time Markov Decision Process (MDP).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500" y="3924300"/>
            <a:ext cx="5905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5900" y="3948112"/>
            <a:ext cx="107061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Inter"/>
              </a:rPr>
              <a:t>Train a PPO agent governed by a custom multi-objective reward function balancing speed and battery life.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500" y="4733925"/>
            <a:ext cx="5905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5900" y="4757737"/>
            <a:ext cx="107061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Inter"/>
              </a:rPr>
              <a:t>Implement robust Random, Fixed, and Greedy baseline schedulers for accurate benchmarking.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500" y="5634037"/>
            <a:ext cx="584299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79649" y="5543550"/>
            <a:ext cx="989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Inter"/>
              </a:rPr>
              <a:t>Evaluate models comprehensively across average throughput, total energy, SIC stages, and network fairness.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367337"/>
            <a:ext cx="10972800" cy="68580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128837"/>
            <a:ext cx="5372100" cy="1304925"/>
          </a:xfrm>
          <a:prstGeom prst="roundRect">
            <a:avLst>
              <a:gd name="adj" fmla="val 87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128837"/>
            <a:ext cx="5372100" cy="1304925"/>
          </a:xfrm>
          <a:prstGeom prst="roundRect">
            <a:avLst>
              <a:gd name="adj" fmla="val 87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3662362"/>
            <a:ext cx="5362575" cy="1323975"/>
          </a:xfrm>
          <a:prstGeom prst="roundRect">
            <a:avLst>
              <a:gd name="adj" fmla="val 8633"/>
            </a:avLst>
          </a:prstGeom>
          <a:solidFill>
            <a:srgbClr val="FFFFFF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00775" y="3662362"/>
            <a:ext cx="5381625" cy="1323975"/>
          </a:xfrm>
          <a:prstGeom prst="roundRect">
            <a:avLst>
              <a:gd name="adj" fmla="val 86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2128837"/>
            <a:ext cx="38100" cy="130492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0300" y="2128837"/>
            <a:ext cx="38100" cy="130492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00775" y="3662362"/>
            <a:ext cx="38100" cy="132397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-381000" y="804862"/>
            <a:ext cx="12954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0F172A"/>
                </a:solidFill>
                <a:latin typeface="Space Grotesk"/>
              </a:rPr>
              <a:t>MDP Formulation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381000" y="1443037"/>
            <a:ext cx="12954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475569"/>
                </a:solidFill>
                <a:latin typeface="Inter"/>
              </a:rPr>
              <a:t>Mapping dynamic NOMA scheduling into a reinforcement learning architecture.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238125" y="5595937"/>
            <a:ext cx="126682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334155"/>
                </a:solidFill>
                <a:latin typeface="monospace"/>
              </a:rPr>
              <a:t>Reward = (1.0 × Throughput) − (2.5 × Energy Cost) − (1.0 × SIC Stages)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2433637"/>
            <a:ext cx="5905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STATE 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500" y="2671762"/>
            <a:ext cx="48196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Inter"/>
              </a:rPr>
              <a:t>Current channel gain + remaining battery level of every active user.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200" y="2433637"/>
            <a:ext cx="56388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ACTION SPACE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200" y="2671762"/>
            <a:ext cx="48196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Inter"/>
              </a:rPr>
              <a:t>Explicit NOMA cluster ID assignment generated for each specific user.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925" y="3976687"/>
            <a:ext cx="591740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REWARD SIGNAL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" y="4214812"/>
            <a:ext cx="48291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Inter"/>
              </a:rPr>
              <a:t>Weighted combination prioritizing throughput minus energy costs and SIC stages.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3675" y="3967162"/>
            <a:ext cx="56483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POLICY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3675" y="4205287"/>
            <a:ext cx="48291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Inter"/>
              </a:rPr>
              <a:t>The robust scheduling strategy iteratively learned by the PPO agent.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933575"/>
            <a:ext cx="109728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114675"/>
            <a:ext cx="109728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295775"/>
            <a:ext cx="109728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1933575"/>
            <a:ext cx="38100" cy="9525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114675"/>
            <a:ext cx="38100" cy="9525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4295775"/>
            <a:ext cx="38100" cy="1143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2267842"/>
            <a:ext cx="2438102" cy="283964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3477517"/>
            <a:ext cx="2380357" cy="226814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4730055"/>
            <a:ext cx="4542234" cy="2744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609600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System Model Formulas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247775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The exact mathematical constraints dictating environment physics.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" y="2162175"/>
            <a:ext cx="325040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Shannon Capacity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" y="2466975"/>
            <a:ext cx="30956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Higher SINR yields better rates.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900" y="3343275"/>
            <a:ext cx="325040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SIC Stages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4900" y="3648075"/>
            <a:ext cx="30956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Decoding steps required.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900" y="4524375"/>
            <a:ext cx="325040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Weighted Energy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" y="4829175"/>
            <a:ext cx="2571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Urgency multiplier applies 4× cost.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933825"/>
            <a:ext cx="10972800" cy="1762125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933575"/>
            <a:ext cx="3505200" cy="1619250"/>
          </a:xfrm>
          <a:prstGeom prst="roundRect">
            <a:avLst>
              <a:gd name="adj" fmla="val 705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1933575"/>
            <a:ext cx="3505200" cy="1619250"/>
          </a:xfrm>
          <a:prstGeom prst="roundRect">
            <a:avLst>
              <a:gd name="adj" fmla="val 705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1933575"/>
            <a:ext cx="3505200" cy="1619250"/>
          </a:xfrm>
          <a:prstGeom prst="roundRect">
            <a:avLst>
              <a:gd name="adj" fmla="val 705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933825"/>
            <a:ext cx="38100" cy="17621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62175"/>
            <a:ext cx="30480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162175"/>
            <a:ext cx="30480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800" y="2162175"/>
            <a:ext cx="3048000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609600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Implementation &amp;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1247775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Built purely in Python leveraging standard modern RL libraries.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4238625"/>
            <a:ext cx="112395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Why Multi-Seed Training?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4619625"/>
            <a:ext cx="104203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PPO can converge to different local optima depending on random weight initialization. We executed training across 3 independent seeds for 200,000 timesteps each, keeping the model with the best evaluation score. This guarantees a mathematically trustworthy result, rather than a lucky one-off training run.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950" y="2619375"/>
            <a:ext cx="40005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Space Grotesk"/>
              </a:rPr>
              <a:t>Gymnasium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43225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"/>
              </a:rPr>
              <a:t>Custom environment handling reset, step logic, and reward.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95750" y="2619375"/>
            <a:ext cx="40005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Space Grotesk"/>
              </a:rPr>
              <a:t>Stable-Baselines3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91000" y="2943225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"/>
              </a:rPr>
              <a:t>Robust implementation of the PPO network architecture.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9550" y="2619375"/>
            <a:ext cx="40005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Space Grotesk"/>
              </a:rPr>
              <a:t>NumPy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4800" y="2943225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"/>
              </a:rPr>
              <a:t>Vectorized calculations for SINR, throughput, and state updates.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781175"/>
            <a:ext cx="10972800" cy="4467225"/>
          </a:xfrm>
          <a:prstGeom prst="roundRect">
            <a:avLst>
              <a:gd name="adj" fmla="val 255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353175" y="5829300"/>
            <a:ext cx="2286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77150" y="5829300"/>
            <a:ext cx="228600" cy="38100"/>
          </a:xfrm>
          <a:prstGeom prst="rect">
            <a:avLst/>
          </a:prstGeom>
          <a:noFill/>
          <a:ln w="2857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0700" y="5829300"/>
            <a:ext cx="228600" cy="38100"/>
          </a:xfrm>
          <a:prstGeom prst="rect">
            <a:avLst/>
          </a:prstGeom>
          <a:noFill/>
          <a:ln w="285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2085975"/>
            <a:ext cx="9677400" cy="35147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609600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PPO Agent Training Convergence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171575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Monotonic improvement of the episodic reward over 200k timesteps.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7800" y="5753100"/>
            <a:ext cx="30956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Training Timesteps (0 → 200,000)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2085975"/>
            <a:ext cx="5524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1050" i="0" u="none">
                <a:solidFill>
                  <a:srgbClr val="64748B"/>
                </a:solidFill>
                <a:latin typeface="Inter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050" y="2924175"/>
            <a:ext cx="5524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1050" i="0" u="none">
                <a:solidFill>
                  <a:srgbClr val="64748B"/>
                </a:solidFill>
                <a:latin typeface="Inter"/>
              </a:rPr>
              <a:t>-1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050" y="3762375"/>
            <a:ext cx="5524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1050" i="0" u="none">
                <a:solidFill>
                  <a:srgbClr val="64748B"/>
                </a:solidFill>
                <a:latin typeface="Inter"/>
              </a:rPr>
              <a:t>-2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050" y="4600575"/>
            <a:ext cx="5524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1050" i="0" u="none">
                <a:solidFill>
                  <a:srgbClr val="64748B"/>
                </a:solidFill>
                <a:latin typeface="Inter"/>
              </a:rPr>
              <a:t>-3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050" y="5438775"/>
            <a:ext cx="5524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1050" i="0" u="none">
                <a:solidFill>
                  <a:srgbClr val="64748B"/>
                </a:solidFill>
                <a:latin typeface="Inter"/>
              </a:rPr>
              <a:t>-4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7975" y="5767387"/>
            <a:ext cx="10763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Inter"/>
              </a:rPr>
              <a:t>PPO Reward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1950" y="5767387"/>
            <a:ext cx="15001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Inter"/>
              </a:rPr>
              <a:t>Eval Score (-0.613)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5500" y="5767387"/>
            <a:ext cx="17621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Inter"/>
              </a:rPr>
              <a:t>Greedy Target (-1.251)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86825" y="609600"/>
            <a:ext cx="2695575" cy="790575"/>
          </a:xfrm>
          <a:prstGeom prst="roundRect">
            <a:avLst>
              <a:gd name="adj" fmla="val 96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86825" y="609600"/>
            <a:ext cx="38100" cy="7905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562100" y="2909887"/>
            <a:ext cx="10020300" cy="45720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2100" y="3595687"/>
            <a:ext cx="10020300" cy="3810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62100" y="4205287"/>
            <a:ext cx="10020300" cy="3810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62100" y="4814887"/>
            <a:ext cx="10020300" cy="3810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562100" y="2909887"/>
            <a:ext cx="8817768" cy="457200"/>
          </a:xfrm>
          <a:prstGeom prst="roundRect">
            <a:avLst>
              <a:gd name="adj" fmla="val 8333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562100" y="3595687"/>
            <a:ext cx="7515225" cy="381000"/>
          </a:xfrm>
          <a:prstGeom prst="roundRect">
            <a:avLst>
              <a:gd name="adj" fmla="val 10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562100" y="4205287"/>
            <a:ext cx="6813798" cy="381000"/>
          </a:xfrm>
          <a:prstGeom prst="roundRect">
            <a:avLst>
              <a:gd name="adj" fmla="val 10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562100" y="4814887"/>
            <a:ext cx="2003970" cy="381000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609600"/>
            <a:ext cx="8226028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Combined Multi-Objective 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1171575"/>
            <a:ext cx="783431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Evaluation scores averaged over 30 independent episodes.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53525" y="762000"/>
            <a:ext cx="2750343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Inter"/>
              </a:rPr>
              <a:t>+51% vs. Greedy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3043237"/>
            <a:ext cx="12382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75569"/>
                </a:solidFill>
                <a:latin typeface="Inter"/>
              </a:rPr>
              <a:t>PPO (Ours)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3690937"/>
            <a:ext cx="12382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75569"/>
                </a:solidFill>
                <a:latin typeface="Inter"/>
              </a:rPr>
              <a:t>Greedy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4300537"/>
            <a:ext cx="12382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75569"/>
                </a:solidFill>
                <a:latin typeface="Inter"/>
              </a:rPr>
              <a:t>Fixed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4910137"/>
            <a:ext cx="12382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75569"/>
                </a:solidFill>
                <a:latin typeface="Inter"/>
              </a:rPr>
              <a:t>Random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62100" y="2909887"/>
            <a:ext cx="876061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800" i="0" u="none">
                <a:latin typeface="Inter"/>
              </a:rPr>
              <a:t>-0.613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62100" y="3595687"/>
            <a:ext cx="74580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475569"/>
                </a:solidFill>
                <a:latin typeface="Inter"/>
              </a:rPr>
              <a:t>-1.251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2100" y="4205287"/>
            <a:ext cx="6756648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475569"/>
                </a:solidFill>
                <a:latin typeface="Inter"/>
              </a:rPr>
              <a:t>-1.582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62100" y="4814887"/>
            <a:ext cx="194682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64748B"/>
                </a:solidFill>
                <a:latin typeface="Inter"/>
              </a:rPr>
              <a:t>-4.979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704975"/>
            <a:ext cx="2571750" cy="454342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9950" y="1704975"/>
            <a:ext cx="2571750" cy="454342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1704975"/>
            <a:ext cx="2571750" cy="454342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10650" y="1704975"/>
            <a:ext cx="2571750" cy="454342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704975"/>
            <a:ext cx="257175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09950" y="1704975"/>
            <a:ext cx="257175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0300" y="1704975"/>
            <a:ext cx="257175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010650" y="1704975"/>
            <a:ext cx="257175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504950" y="2524125"/>
            <a:ext cx="1447800" cy="228600"/>
          </a:xfrm>
          <a:prstGeom prst="roundRect">
            <a:avLst>
              <a:gd name="adj" fmla="val 1666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504950" y="2867025"/>
            <a:ext cx="1447800" cy="228600"/>
          </a:xfrm>
          <a:prstGeom prst="roundRect">
            <a:avLst>
              <a:gd name="adj" fmla="val 1666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504950" y="3209925"/>
            <a:ext cx="1447800" cy="228600"/>
          </a:xfrm>
          <a:prstGeom prst="roundRect">
            <a:avLst>
              <a:gd name="adj" fmla="val 1666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504950" y="3552825"/>
            <a:ext cx="1447800" cy="228600"/>
          </a:xfrm>
          <a:prstGeom prst="roundRect">
            <a:avLst>
              <a:gd name="adj" fmla="val 1666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05300" y="2524125"/>
            <a:ext cx="1447800" cy="228600"/>
          </a:xfrm>
          <a:prstGeom prst="roundRect">
            <a:avLst>
              <a:gd name="adj" fmla="val 1666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05300" y="2867025"/>
            <a:ext cx="1447800" cy="228600"/>
          </a:xfrm>
          <a:prstGeom prst="roundRect">
            <a:avLst>
              <a:gd name="adj" fmla="val 1666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05300" y="3209925"/>
            <a:ext cx="1447800" cy="228600"/>
          </a:xfrm>
          <a:prstGeom prst="roundRect">
            <a:avLst>
              <a:gd name="adj" fmla="val 1666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05300" y="3552825"/>
            <a:ext cx="1447800" cy="228600"/>
          </a:xfrm>
          <a:prstGeom prst="roundRect">
            <a:avLst>
              <a:gd name="adj" fmla="val 1666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05650" y="2524125"/>
            <a:ext cx="1447800" cy="228600"/>
          </a:xfrm>
          <a:prstGeom prst="roundRect">
            <a:avLst>
              <a:gd name="adj" fmla="val 1666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05650" y="2867025"/>
            <a:ext cx="1447800" cy="228600"/>
          </a:xfrm>
          <a:prstGeom prst="roundRect">
            <a:avLst>
              <a:gd name="adj" fmla="val 1666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105650" y="3209925"/>
            <a:ext cx="1447800" cy="228600"/>
          </a:xfrm>
          <a:prstGeom prst="roundRect">
            <a:avLst>
              <a:gd name="adj" fmla="val 1666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05650" y="3552825"/>
            <a:ext cx="1447800" cy="228600"/>
          </a:xfrm>
          <a:prstGeom prst="roundRect">
            <a:avLst>
              <a:gd name="adj" fmla="val 1666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906000" y="2524125"/>
            <a:ext cx="1447800" cy="228600"/>
          </a:xfrm>
          <a:prstGeom prst="roundRect">
            <a:avLst>
              <a:gd name="adj" fmla="val 1666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906000" y="2867025"/>
            <a:ext cx="1447800" cy="228600"/>
          </a:xfrm>
          <a:prstGeom prst="roundRect">
            <a:avLst>
              <a:gd name="adj" fmla="val 1666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906000" y="3209925"/>
            <a:ext cx="1447800" cy="228600"/>
          </a:xfrm>
          <a:prstGeom prst="roundRect">
            <a:avLst>
              <a:gd name="adj" fmla="val 1666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906000" y="3552825"/>
            <a:ext cx="1447800" cy="228600"/>
          </a:xfrm>
          <a:prstGeom prst="roundRect">
            <a:avLst>
              <a:gd name="adj" fmla="val 1666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504950" y="2524125"/>
            <a:ext cx="1447800" cy="228600"/>
          </a:xfrm>
          <a:prstGeom prst="roundRect">
            <a:avLst>
              <a:gd name="adj" fmla="val 16666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504950" y="2867025"/>
            <a:ext cx="868560" cy="228600"/>
          </a:xfrm>
          <a:prstGeom prst="roundRect">
            <a:avLst>
              <a:gd name="adj" fmla="val 16666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504950" y="3209925"/>
            <a:ext cx="723900" cy="228600"/>
          </a:xfrm>
          <a:prstGeom prst="roundRect">
            <a:avLst>
              <a:gd name="adj" fmla="val 16666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504950" y="3552825"/>
            <a:ext cx="361950" cy="228600"/>
          </a:xfrm>
          <a:prstGeom prst="roundRect">
            <a:avLst>
              <a:gd name="adj" fmla="val 16666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305300" y="2524125"/>
            <a:ext cx="289470" cy="228600"/>
          </a:xfrm>
          <a:prstGeom prst="roundRect">
            <a:avLst>
              <a:gd name="adj" fmla="val 16666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05300" y="2867025"/>
            <a:ext cx="361950" cy="228600"/>
          </a:xfrm>
          <a:prstGeom prst="roundRect">
            <a:avLst>
              <a:gd name="adj" fmla="val 16666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305300" y="3209925"/>
            <a:ext cx="506610" cy="228600"/>
          </a:xfrm>
          <a:prstGeom prst="roundRect">
            <a:avLst>
              <a:gd name="adj" fmla="val 16666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305300" y="3552825"/>
            <a:ext cx="1447800" cy="228600"/>
          </a:xfrm>
          <a:prstGeom prst="roundRect">
            <a:avLst>
              <a:gd name="adj" fmla="val 16666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105650" y="2524125"/>
            <a:ext cx="289470" cy="228600"/>
          </a:xfrm>
          <a:prstGeom prst="roundRect">
            <a:avLst>
              <a:gd name="adj" fmla="val 16666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105650" y="2867025"/>
            <a:ext cx="289470" cy="228600"/>
          </a:xfrm>
          <a:prstGeom prst="roundRect">
            <a:avLst>
              <a:gd name="adj" fmla="val 16666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105650" y="3209925"/>
            <a:ext cx="506610" cy="228600"/>
          </a:xfrm>
          <a:prstGeom prst="roundRect">
            <a:avLst>
              <a:gd name="adj" fmla="val 16666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105650" y="3552825"/>
            <a:ext cx="1447800" cy="228600"/>
          </a:xfrm>
          <a:prstGeom prst="roundRect">
            <a:avLst>
              <a:gd name="adj" fmla="val 16666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906000" y="2524125"/>
            <a:ext cx="1433214" cy="228600"/>
          </a:xfrm>
          <a:prstGeom prst="roundRect">
            <a:avLst>
              <a:gd name="adj" fmla="val 16666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906000" y="2867025"/>
            <a:ext cx="1375320" cy="228600"/>
          </a:xfrm>
          <a:prstGeom prst="roundRect">
            <a:avLst>
              <a:gd name="adj" fmla="val 16666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906000" y="3209925"/>
            <a:ext cx="1230510" cy="228600"/>
          </a:xfrm>
          <a:prstGeom prst="roundRect">
            <a:avLst>
              <a:gd name="adj" fmla="val 16666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906000" y="3552825"/>
            <a:ext cx="651420" cy="228600"/>
          </a:xfrm>
          <a:prstGeom prst="roundRect">
            <a:avLst>
              <a:gd name="adj" fmla="val 16666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9600" y="609600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Detailed Metric Comparison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9600" y="1171575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Dissecting the specific operational behaviors of each scheduler policy.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1971675"/>
            <a:ext cx="2209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Average Throughput (Higher = Better)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38550" y="1971675"/>
            <a:ext cx="2209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Energy Cost (Lower = Better)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38900" y="1971675"/>
            <a:ext cx="2209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SIC Stages (Lower = Better)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39250" y="1971675"/>
            <a:ext cx="2209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Jain's Fairness (Higher = Better)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2557462"/>
            <a:ext cx="952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Inter"/>
              </a:rPr>
              <a:t>PPO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8200" y="2900362"/>
            <a:ext cx="952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Inter"/>
              </a:rPr>
              <a:t>Greedy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3243262"/>
            <a:ext cx="952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Inter"/>
              </a:rPr>
              <a:t>Fixed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8200" y="3586162"/>
            <a:ext cx="952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Inter"/>
              </a:rPr>
              <a:t>Random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38550" y="2557462"/>
            <a:ext cx="952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Inter"/>
              </a:rPr>
              <a:t>Greedy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38550" y="2900362"/>
            <a:ext cx="952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Inter"/>
              </a:rPr>
              <a:t>Fixed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38550" y="3243262"/>
            <a:ext cx="952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Inter"/>
              </a:rPr>
              <a:t>PPO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38550" y="3586162"/>
            <a:ext cx="952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Inter"/>
              </a:rPr>
              <a:t>Random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38900" y="2557462"/>
            <a:ext cx="952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Inter"/>
              </a:rPr>
              <a:t>Greedy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38900" y="2900362"/>
            <a:ext cx="952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Inter"/>
              </a:rPr>
              <a:t>Fixed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38900" y="3243262"/>
            <a:ext cx="952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Inter"/>
              </a:rPr>
              <a:t>PPO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38900" y="3586162"/>
            <a:ext cx="952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Inter"/>
              </a:rPr>
              <a:t>Random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39250" y="2557462"/>
            <a:ext cx="952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Inter"/>
              </a:rPr>
              <a:t>Fixed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39250" y="2900362"/>
            <a:ext cx="952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Inter"/>
              </a:rPr>
              <a:t>Greedy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39250" y="3243262"/>
            <a:ext cx="952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Inter"/>
              </a:rPr>
              <a:t>PPO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39250" y="3586162"/>
            <a:ext cx="952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Inter"/>
              </a:rPr>
              <a:t>Random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91200" y="1857375"/>
            <a:ext cx="5791200" cy="4391025"/>
          </a:xfrm>
          <a:prstGeom prst="roundRect">
            <a:avLst>
              <a:gd name="adj" fmla="val 347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857375"/>
            <a:ext cx="4876800" cy="118110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267075"/>
            <a:ext cx="4876800" cy="118110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676775"/>
            <a:ext cx="4876800" cy="118110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857375"/>
            <a:ext cx="38100" cy="1181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267075"/>
            <a:ext cx="38100" cy="1181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4676775"/>
            <a:ext cx="38100" cy="1181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5800" y="3000375"/>
            <a:ext cx="762000" cy="609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-381000" y="609600"/>
            <a:ext cx="12954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0F172A"/>
                </a:solidFill>
                <a:latin typeface="Space Grotesk"/>
              </a:rPr>
              <a:t>Why the PPO Scheduler Excels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381000" y="1247775"/>
            <a:ext cx="12954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475569"/>
                </a:solidFill>
                <a:latin typeface="Inter"/>
              </a:rPr>
              <a:t>An honest trade-off built on dynamic observation.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6506" y="3838575"/>
            <a:ext cx="4700587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F8FAFC"/>
                </a:solidFill>
                <a:latin typeface="Space Grotesk"/>
              </a:rPr>
              <a:t>The Optimal Multi-Objective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38800" y="4333875"/>
            <a:ext cx="60960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No single method should arbitrarily dominate every axis. By balancing mathematically proven throughput gains against survival, PPO achieves the superior operational trade-off.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2085975"/>
            <a:ext cx="5750718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Battery Visibility Advantage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2428875"/>
            <a:ext cx="4476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Baselines blindly cluster dying devices. PPO explicitly observes remaining energy and isolates vulnerable nodes.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3495675"/>
            <a:ext cx="5750718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The Fairness/Energy Baseline Artifact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3838575"/>
            <a:ext cx="4476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Greedy and Fixed models score well on fairness simply because they construct perfectly even static clusters.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300" y="4905375"/>
            <a:ext cx="5750718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Strategic Asymmetry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300" y="5248275"/>
            <a:ext cx="4476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PPO trades away perfectly uniform clustering logic to secure massive sum throughput gains.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3884265"/>
            <a:ext cx="10972800" cy="9525"/>
          </a:xfrm>
          <a:prstGeom prst="rect">
            <a:avLst/>
          </a:prstGeom>
          <a:noFill/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0296" y="1335434"/>
            <a:ext cx="11251406" cy="100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959"/>
              </a:lnSpc>
            </a:pPr>
            <a:r>
              <a:rPr b="1" sz="3600" i="0" u="none">
                <a:solidFill>
                  <a:srgbClr val="F8FAFC"/>
                </a:solidFill>
                <a:latin typeface="Space Grotesk"/>
              </a:rPr>
              <a:t>Advancing Sustainable 6G Connectivity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3500" y="2646015"/>
            <a:ext cx="95250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94A3B8"/>
                </a:solidFill>
                <a:latin typeface="Inter"/>
              </a:rPr>
              <a:t>Jointly optimizing throughput, energy, and SIC complexity via Reinforcement Learning ensures network longevity beyond static heuristics.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4350990"/>
            <a:ext cx="440531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EA5E9"/>
                </a:solidFill>
                <a:latin typeface="Inter"/>
              </a:rPr>
              <a:t>FUTURE DIRECTIONS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65281" y="4350990"/>
            <a:ext cx="241696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1050" i="0" u="none">
                <a:solidFill>
                  <a:srgbClr val="10B981"/>
                </a:solidFill>
                <a:latin typeface="Inter"/>
              </a:rPr>
              <a:t>PROJECT AUTHORS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65281" y="4665315"/>
            <a:ext cx="24169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1350" i="0" u="none">
                <a:solidFill>
                  <a:srgbClr val="F8FAFC"/>
                </a:solidFill>
                <a:latin typeface="Inter"/>
              </a:rPr>
              <a:t>Ranga Charvik Battagiri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65281" y="4941540"/>
            <a:ext cx="24169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1350" i="0" u="none">
                <a:solidFill>
                  <a:srgbClr val="F8FAFC"/>
                </a:solidFill>
                <a:latin typeface="Inter"/>
              </a:rPr>
              <a:t>A. Dhanush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65281" y="5217765"/>
            <a:ext cx="24169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1350" i="0" u="none">
                <a:solidFill>
                  <a:srgbClr val="F8FAFC"/>
                </a:solidFill>
                <a:latin typeface="Inter"/>
              </a:rPr>
              <a:t>R. Gnaneshwar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9750" y="4665315"/>
            <a:ext cx="4405312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Inter"/>
              </a:rPr>
              <a:t>→ Model imperfect SIC / error propagation.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9750" y="4989165"/>
            <a:ext cx="4405312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Inter"/>
              </a:rPr>
              <a:t>→ Implement true Pareto-front algorithms.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9750" y="5313015"/>
            <a:ext cx="4405312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Inter"/>
              </a:rPr>
              <a:t>→ Scale to massive multi-cell clustering.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42987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150268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009650"/>
            <a:ext cx="10048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Inter"/>
              </a:rPr>
              <a:t>https://img.magnific.com/premium-photo/blue-wifi-signal-symbol-against-clean-backdrop-3d-rendered-abstract-representation_1281529-49473.jpg?semt=ais_hybrid&amp;w=740&amp;q=80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362075"/>
            <a:ext cx="248840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www.magnific.com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